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Botany 158</a:t>
            </a:r>
          </a:p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E6E2D8"/>
                </a:solidFill>
                <a:latin typeface="Calibri"/>
              </a:rPr>
              <a:t>Tenant-Acquisition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8962E"/>
                </a:solidFill>
                <a:latin typeface="Calibri"/>
              </a:rPr>
              <a:t>The test project, done.  A worked pitch for FI Property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2B0"/>
                </a:solidFill>
                <a:latin typeface="Calibri"/>
              </a:rPr>
              <a:t>Soap   ·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THE BRIEF, AS WE HEARD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One number. No over-engineering. And get back to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Occupancy is the only hard KPI.  </a:t>
            </a:r>
            <a:r>
              <a:rPr sz="1800">
                <a:solidFill>
                  <a:srgbClr val="141B2E"/>
                </a:solidFill>
                <a:latin typeface="Calibri"/>
              </a:rPr>
              <a:t>80% portfolio occupancy. Not awareness, not share of voice. Every line below is measured against a signed lease — and the renewal beyond it.</a:t>
            </a:r>
          </a:p>
          <a:p>
            <a:pPr algn="l">
              <a:spcAft>
                <a:spcPts val="15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You said the strategy is “quite simple.”  </a:t>
            </a:r>
            <a:r>
              <a:rPr sz="1800">
                <a:solidFill>
                  <a:srgbClr val="141B2E"/>
                </a:solidFill>
                <a:latin typeface="Calibri"/>
              </a:rPr>
              <a:t>We agree, and we've kept it that way. The rigour is upstream in the thinking; the output is meant to look effortless.</a:t>
            </a:r>
          </a:p>
          <a:p>
            <a:pPr algn="l">
              <a:spcAft>
                <a:spcPts val="15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Your pain with incumbents is speed, not capability.  </a:t>
            </a:r>
            <a:r>
              <a:rPr sz="1800">
                <a:solidFill>
                  <a:srgbClr val="141B2E"/>
                </a:solidFill>
                <a:latin typeface="Calibri"/>
              </a:rPr>
              <a:t>“Not getting back to them.” Our whole operating model for this account is built to close that gap.</a:t>
            </a:r>
          </a:p>
          <a:p>
            <a:pPr algn="l">
              <a:spcAft>
                <a:spcPts val="15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You test agencies with a real project.  </a:t>
            </a:r>
            <a:r>
              <a:rPr sz="1800">
                <a:solidFill>
                  <a:srgbClr val="141B2E"/>
                </a:solidFill>
                <a:latin typeface="Calibri"/>
              </a:rPr>
              <a:t>So here it is — anchored to a real vacant unit, real 2025–26 data, your one real KPI.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THE POSITION WE'D DEFEND 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“The available-now, best-spec Grade-A in central Lancashire — with the labour catchment and power the Golden Triangle and Logistics North can't match on cost.”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6E2D8"/>
                </a:solidFill>
                <a:latin typeface="Calibri"/>
              </a:rPr>
              <a:t>We lead with the asset and the labour-and-power wedge, because that is what the buying committee is scored on and occupancy is the only number set.</a:t>
            </a:r>
          </a:p>
          <a:p>
            <a:r>
              <a:rPr sz="1800" b="1">
                <a:solidFill>
                  <a:srgbClr val="C8962E"/>
                </a:solidFill>
                <a:latin typeface="Calibri"/>
              </a:rPr>
              <a:t>FI's name goes on the deliverability. </a:t>
            </a:r>
            <a:r>
              <a:rPr sz="1800">
                <a:solidFill>
                  <a:srgbClr val="E6E2D8"/>
                </a:solidFill>
                <a:latin typeface="Calibri"/>
              </a:rPr>
              <a:t>The brand doesn't headline the campaign — it underwrites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WHY THIS POSITION WINS IN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Three facts from the market — not from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20440" cy="73152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Pipeline starved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41B2E"/>
                </a:solidFill>
                <a:latin typeface="Calibri"/>
              </a:rPr>
              <a:t>NW speculative pipeline is at its lowest since 2019 — only four units under construction in the 100–200k band. New best-in-class Grade-A has rental tension behind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2103120"/>
            <a:ext cx="3520440" cy="73152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228600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First-mover window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41B2E"/>
                </a:solidFill>
                <a:latin typeface="Calibri"/>
              </a:rPr>
              <a:t>Lancashire Central / Cuerden is still pre-development as of April 2026 — no occupier, no agent appointed. A clean 2–3 year window in central Lancashire.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2103120"/>
            <a:ext cx="3520440" cy="73152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6" y="228600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B2A4A"/>
                </a:solidFill>
                <a:latin typeface="Calibri"/>
              </a:rPr>
              <a:t>A gap in the map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41B2E"/>
                </a:solidFill>
                <a:latin typeface="Calibri"/>
              </a:rPr>
              <a:t>Logistics North and Omega read as “Greater Manchester.” No NW rival leads a structured central-Lancashire labour narrative. The gap is in the market, not your 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270"/>
                </a:solidFill>
                <a:latin typeface="Calibri"/>
              </a:rPr>
              <a:t>Honest caveat we'd lead with: this is the most-contested size band, and we can't beat the Golden Triangle on national reach. That's exactly why the lead is labour-and-power cost, not drive-time.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WHO WE TARGET — ACCOUNT-BASED, NOT AUDIENCE-BASED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A finite, nameable market. We build a list, not an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Occupier profiles  </a:t>
            </a:r>
            <a:r>
              <a:rPr sz="1700">
                <a:solidFill>
                  <a:srgbClr val="141B2E"/>
                </a:solidFill>
                <a:latin typeface="Calibri"/>
              </a:rPr>
              <a:t>3PLs expanding NW capacity · e-commerce / retail fulfilment on the M6/M61 corridor · manufacturers needing 550kVA and 12m clear · anyone facing a lease event within ~30 miles in 12–18 months.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The decision unit (4–7 people, all covered)  </a:t>
            </a:r>
            <a:r>
              <a:rPr sz="1700">
                <a:solidFill>
                  <a:srgbClr val="141B2E"/>
                </a:solidFill>
                <a:latin typeface="Calibri"/>
              </a:rPr>
              <a:t>Property Director · Supply-Chain Director · CFO · Head of HR (catchment) · Head of Sustainability (the EPC A on the slide) · and the tenant-rep who builds the shortlist.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Agents are a channel, not a competitor  </a:t>
            </a:r>
            <a:r>
              <a:rPr sz="1700">
                <a:solidFill>
                  <a:srgbClr val="141B2E"/>
                </a:solidFill>
                <a:latin typeface="Calibri"/>
              </a:rPr>
              <a:t>~60%+ of converted leads come via tenant-rep channels at this size. We feed their pipeline; we never cut across it.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Hard first action  </a:t>
            </a:r>
            <a:r>
              <a:rPr sz="1700">
                <a:solidFill>
                  <a:srgbClr val="141B2E"/>
                </a:solidFill>
                <a:latin typeface="Calibri"/>
              </a:rPr>
              <a:t>Align with FI's disposal-agent mandate (JLL + Trevor Dawson + Box 4 + in-house) before any direct demand-gen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THE MESSAGE — WHAT GOES ABOVE THE 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Anchored on facts that survive any reader, in scored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73152" cy="6035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698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1 · Power &amp; grid   </a:t>
            </a:r>
            <a:r>
              <a:rPr sz="1500">
                <a:solidFill>
                  <a:srgbClr val="141B2E"/>
                </a:solidFill>
                <a:latin typeface="Calibri"/>
              </a:rPr>
              <a:t>Up to 550kVA, EV-ready. Rated “critical” — the fastest-rising filter.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98064"/>
            <a:ext cx="73152" cy="6035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98064"/>
            <a:ext cx="10698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2 · ESG   </a:t>
            </a:r>
            <a:r>
              <a:rPr sz="1500">
                <a:solidFill>
                  <a:srgbClr val="141B2E"/>
                </a:solidFill>
                <a:latin typeface="Calibri"/>
              </a:rPr>
              <a:t>BREEAM Very Good, EPC A. 88% of occupiers now rate ESG important (was 69%).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84448"/>
            <a:ext cx="73152" cy="6035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84448"/>
            <a:ext cx="10698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3 · Labour   </a:t>
            </a:r>
            <a:r>
              <a:rPr sz="1500">
                <a:solidFill>
                  <a:srgbClr val="141B2E"/>
                </a:solidFill>
                <a:latin typeface="Calibri"/>
              </a:rPr>
              <a:t>Chorley 2.6% claimant count vs UK 3.8% / NW 3.9% — cost the Golden Triangle can't 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70832"/>
            <a:ext cx="73152" cy="6035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70832"/>
            <a:ext cx="10698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4 · Spec &amp; access  (table-stakes)   </a:t>
            </a:r>
            <a:r>
              <a:rPr sz="1500">
                <a:solidFill>
                  <a:srgbClr val="141B2E"/>
                </a:solidFill>
                <a:latin typeface="Calibri"/>
              </a:rPr>
              <a:t>158,360 sq ft · 12m · 60m yard · 11 dock · M61 J8 · 56.5% reach. Necessary — not the hook.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49240"/>
            <a:ext cx="10972800" cy="18288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681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8962E"/>
                </a:solidFill>
                <a:latin typeface="Calibri"/>
              </a:rPr>
              <a:t>FI = the guarantor clause, not the headline.  </a:t>
            </a:r>
            <a:r>
              <a:rPr sz="1500">
                <a:solidFill>
                  <a:srgbClr val="141B2E"/>
                </a:solidFill>
                <a:latin typeface="Calibri"/>
              </a:rPr>
              <a:t>In-house build + the ~1m sq ft Botany Bay masterplan show up exactly where the occupier prices delivery risk — named beside Costa, Greggs, Central Co-op as proof. One developer who can build and run the 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CHANNEL PLAN — MAPPED TO YOUR OWN TIER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Botany 158 = a full Tier 2 push on a solid Tier 0/1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72800" cy="86868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4173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48840"/>
            <a:ext cx="28346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Every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30552"/>
            <a:ext cx="6172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alibri"/>
              </a:rPr>
              <a:t>Portals (CoStar/LoopNet, Rightmove, EG), brochure, board. Consistent everywhere; clean up the stale legacy listings.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0088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72968"/>
            <a:ext cx="14173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81528"/>
            <a:ext cx="28346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LinkedIn · LoopNet · Rightmove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063240"/>
            <a:ext cx="6172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alibri"/>
              </a:rPr>
              <a:t>Targeted ABM on the named DMU + tenant-rep desks. Outreach from a named FI person. Operational story, not brand-building.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22776"/>
            <a:ext cx="10972800" cy="86868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105656"/>
            <a:ext cx="14173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14216"/>
            <a:ext cx="28346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Events · PR · social · data-led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995928"/>
            <a:ext cx="6172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alibri"/>
              </a:rPr>
              <a:t>PR cadence (Place NW, TheBusinessDesk, BE News, Logistics Manager). Agent-co-hosted hard-hat tours. Microsite to Tritax/Panattoni standard.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9728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038344"/>
            <a:ext cx="1417320" cy="502920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46904"/>
            <a:ext cx="28346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2–3yr brand campaign, CGI/VR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928616"/>
            <a:ext cx="6172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alibri"/>
              </a:rPr>
              <a:t>The master-brand repositioning — funded as its own line, run in parallel. Does NOT ride on this disposal's budget or runway.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HOW WE WORK — SOLVING YOUR ACTUAL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Your incumbents are slow. That's the one thing we won't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C8962E"/>
                </a:solidFill>
                <a:latin typeface="Calibri"/>
              </a:rPr>
              <a:t>—  </a:t>
            </a:r>
            <a:r>
              <a:rPr sz="1800" b="1">
                <a:solidFill>
                  <a:srgbClr val="FFFFFF"/>
                </a:solidFill>
                <a:latin typeface="Calibri"/>
              </a:rPr>
              <a:t>Clear lines.  </a:t>
            </a:r>
            <a:r>
              <a:rPr sz="1800">
                <a:solidFill>
                  <a:srgbClr val="D9DDE6"/>
                </a:solidFill>
                <a:latin typeface="Calibri"/>
              </a:rPr>
              <a:t>Agents own occupier outreach and negotiation. We own brand, content, microsite, PR, LinkedIn, events. Shared, co-branded asset library.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C8962E"/>
                </a:solidFill>
                <a:latin typeface="Calibri"/>
              </a:rPr>
              <a:t>—  </a:t>
            </a:r>
            <a:r>
              <a:rPr sz="1800" b="1">
                <a:solidFill>
                  <a:srgbClr val="FFFFFF"/>
                </a:solidFill>
                <a:latin typeface="Calibri"/>
              </a:rPr>
              <a:t>One lead log.  </a:t>
            </a:r>
            <a:r>
              <a:rPr sz="1800">
                <a:solidFill>
                  <a:srgbClr val="D9DDE6"/>
                </a:solidFill>
                <a:latin typeface="Calibri"/>
              </a:rPr>
              <a:t>Every enquiry from a Soap/FI channel routes to the joint agency team through a single CRM. Agents are never talked past.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C8962E"/>
                </a:solidFill>
                <a:latin typeface="Calibri"/>
              </a:rPr>
              <a:t>—  </a:t>
            </a:r>
            <a:r>
              <a:rPr sz="1800" b="1">
                <a:solidFill>
                  <a:srgbClr val="FFFFFF"/>
                </a:solidFill>
                <a:latin typeface="Calibri"/>
              </a:rPr>
              <a:t>We respond.  </a:t>
            </a:r>
            <a:r>
              <a:rPr sz="1800">
                <a:solidFill>
                  <a:srgbClr val="D9DDE6"/>
                </a:solidFill>
                <a:latin typeface="Calibri"/>
              </a:rPr>
              <a:t>Named contact, fast turnarounds. Monthly enquiry log; quarterly steering. Headline line is always signed lettings toward 80%.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C8962E"/>
                </a:solidFill>
                <a:latin typeface="Calibri"/>
              </a:rPr>
              <a:t>—  </a:t>
            </a:r>
            <a:r>
              <a:rPr sz="1800" b="1">
                <a:solidFill>
                  <a:srgbClr val="FFFFFF"/>
                </a:solidFill>
                <a:latin typeface="Calibri"/>
              </a:rPr>
              <a:t>Every spend justified.  </a:t>
            </a:r>
            <a:r>
              <a:rPr sz="1800">
                <a:solidFill>
                  <a:srgbClr val="D9DDE6"/>
                </a:solidFill>
                <a:latin typeface="Calibri"/>
              </a:rPr>
              <a:t>Given £30k-per-area and £40–50k-per-property budgets need internal sign-off, each cost ties to a funnel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WHAT WE DELIBERATELY ARE NOT DOING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Restraint is the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No leading with FI's brand journey.  </a:t>
            </a:r>
            <a:r>
              <a:rPr sz="1900">
                <a:solidFill>
                  <a:srgbClr val="141B2E"/>
                </a:solidFill>
                <a:latin typeface="Calibri"/>
              </a:rPr>
              <a:t>A logistics director buys power, labour, location and fit — not a brand transition. Brand earns its place as proof.</a:t>
            </a:r>
          </a:p>
          <a:p>
            <a:pPr algn="l">
              <a:spcAft>
                <a:spcPts val="18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No lookalike / broad-audience prospecting.  </a:t>
            </a:r>
            <a:r>
              <a:rPr sz="1900">
                <a:solidFill>
                  <a:srgbClr val="141B2E"/>
                </a:solidFill>
                <a:latin typeface="Calibri"/>
              </a:rPr>
              <a:t>Wrong tool for a finite, high-value, low-volume B2B market.</a:t>
            </a:r>
          </a:p>
          <a:p>
            <a:pPr algn="l">
              <a:spcAft>
                <a:spcPts val="18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No CPL/CTR vanity reporting.  </a:t>
            </a:r>
            <a:r>
              <a:rPr sz="1900">
                <a:solidFill>
                  <a:srgbClr val="141B2E"/>
                </a:solidFill>
                <a:latin typeface="Calibri"/>
              </a:rPr>
              <a:t>You distrust over-engineering. We report on the let, not impressions.</a:t>
            </a:r>
          </a:p>
          <a:p>
            <a:pPr algn="l">
              <a:spcAft>
                <a:spcPts val="1800"/>
              </a:spcAft>
            </a:pPr>
            <a:r>
              <a:rPr sz="1900" b="1">
                <a:solidFill>
                  <a:srgbClr val="1B2A4A"/>
                </a:solidFill>
                <a:latin typeface="Calibri"/>
              </a:rPr>
              <a:t>No SEO.  </a:t>
            </a:r>
            <a:r>
              <a:rPr sz="1900">
                <a:solidFill>
                  <a:srgbClr val="141B2E"/>
                </a:solidFill>
                <a:latin typeface="Calibri"/>
              </a:rPr>
              <a:t>You have a partner there. Off the table, as agreed.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HOW WE MEASURE — THE ONLY FUNNEL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41B2E"/>
                </a:solidFill>
                <a:latin typeface="Calibri"/>
              </a:rPr>
              <a:t>Reported against occupancy. Never impressions in isolation.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76479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148840"/>
            <a:ext cx="176479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Qualified enquiry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48840"/>
            <a:ext cx="176479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Viewing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148840"/>
            <a:ext cx="176479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Heads of terms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2148840"/>
            <a:ext cx="176479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2148840"/>
            <a:ext cx="1764792" cy="64008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Thresholds that would change the plan: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Signed HoTs within 6 months  </a:t>
            </a:r>
            <a:r>
              <a:rPr sz="1700">
                <a:solidFill>
                  <a:srgbClr val="141B2E"/>
                </a:solidFill>
                <a:latin typeface="Calibri"/>
              </a:rPr>
              <a:t>of launch; signed lease within 12.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No qualified tenant-rep engagement by month 6  </a:t>
            </a:r>
            <a:r>
              <a:rPr sz="1700">
                <a:solidFill>
                  <a:srgbClr val="141B2E"/>
                </a:solidFill>
                <a:latin typeface="Calibri"/>
              </a:rPr>
              <a:t>→ re-test pricing, consider BTS sub-division, raise the incentive package.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Labour message not landing  </a:t>
            </a:r>
            <a:r>
              <a:rPr sz="1700">
                <a:solidFill>
                  <a:srgbClr val="141B2E"/>
                </a:solidFill>
                <a:latin typeface="Calibri"/>
              </a:rPr>
              <a:t>→ pivot PR to sector case studies (the James Donaldson Chorley-jobs story is reusable and authentic).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457200" cy="5486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962E"/>
                </a:solidFill>
                <a:latin typeface="Calibri"/>
              </a:rPr>
              <a:t>THE BIGGER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One unit today. A repeatable playbook for ~100 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E6E2D8"/>
                </a:solidFill>
                <a:latin typeface="Calibri"/>
              </a:rPr>
              <a:t>The architecture here — asset-and-location lead, FI as guarantor, tiered to your own structure, agent-aligned, occupancy-reported — is a system, not a one-off.</a:t>
            </a:r>
          </a:p>
          <a:p>
            <a:pPr algn="l">
              <a:spcAft>
                <a:spcPts val="1800"/>
              </a:spcAft>
            </a:pPr>
            <a:r>
              <a:rPr sz="2100" b="0" i="0">
                <a:solidFill>
                  <a:srgbClr val="E6E2D8"/>
                </a:solidFill>
                <a:latin typeface="Calibri"/>
              </a:rPr>
              <a:t>Get it right on Botany 158 and it ports across the ~100 locations your six-person team can't campaign single-handed.</a:t>
            </a:r>
          </a:p>
          <a:p>
            <a:r>
              <a:rPr sz="2100" b="1">
                <a:solidFill>
                  <a:srgbClr val="C8962E"/>
                </a:solidFill>
                <a:latin typeface="Calibri"/>
              </a:rPr>
              <a:t>We're not pitching one campaign. We're pitching a system you can run at scale — and we earn it by letting this unit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Soap  ·  for FI Property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B9C0C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2000" b="1" i="0">
                <a:solidFill>
                  <a:srgbClr val="5A6270"/>
                </a:solidFill>
                <a:latin typeface="Calibri"/>
              </a:rPr>
              <a:t>The one line we defend in the room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Calibri"/>
              </a:rPr>
              <a:t>“We lead with the asset because that's what the buying committee is scored on and occupancy is the only number set — but we put FI's name on the deliverability, because the developer that builds and runs its own park is the proof that makes the spec believable.”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Calibri"/>
              </a:rPr>
              <a:t>Soap   ·   for FI Property Group   · 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